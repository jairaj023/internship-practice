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69" d="100"/>
          <a:sy n="69" d="100"/>
        </p:scale>
        <p:origin x="78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7696CE-1A37-E886-6795-772FC40816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7829B74-BE30-BEF1-0AA5-899CD02292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9E3718-2C03-FB3E-5287-82A199EF1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F085FC-C65E-4611-A623-9391468A01B7}" type="datetimeFigureOut">
              <a:rPr lang="en-IN" smtClean="0"/>
              <a:t>04-09-2026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9810B9-C384-6E3B-BE01-A3AD353F32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D928A7-70C7-4CAA-A1B4-BFDFF9E6B8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F970E7-B941-4A50-AD84-8BE5A46F24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78915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89E05F-EB92-9D64-136B-439D5C69F9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3D2EEB-FE4E-AA9A-285C-7E4256ADF9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549A1E-0347-3CEC-7ED2-F08956A1DA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F085FC-C65E-4611-A623-9391468A01B7}" type="datetimeFigureOut">
              <a:rPr lang="en-IN" smtClean="0"/>
              <a:t>04-09-2026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2E96DC-A83B-B77F-16CB-B4D22F0B7E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6335E8-1CF0-DC5A-EA70-671D149FB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F970E7-B941-4A50-AD84-8BE5A46F24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19923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A1AAE8-F79D-23EF-CB06-C9BC7D3997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E4DFA6-23D4-CBB0-4E99-1B4AC71FA1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F2051B-ED00-2C85-97EF-9E677A5766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F085FC-C65E-4611-A623-9391468A01B7}" type="datetimeFigureOut">
              <a:rPr lang="en-IN" smtClean="0"/>
              <a:t>04-09-2026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0BCF4D-DF43-29E4-C8C0-96C477B5C5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88ED0C-481B-17D0-0CDA-5F7770924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F970E7-B941-4A50-AD84-8BE5A46F24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60694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42C4EF-FCF4-8183-33D0-6F897544B8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4B5E1A-CE46-81A2-0E4A-A93E764B8A1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9B83CC-AFE9-E0B4-C062-FB4989D7C2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0F6716-077E-5489-2BAE-409A1A11C9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F085FC-C65E-4611-A623-9391468A01B7}" type="datetimeFigureOut">
              <a:rPr lang="en-IN" smtClean="0"/>
              <a:t>04-09-2026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43ACF7-4025-4FF0-20C5-BDABB31A23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FE4699-6785-2A81-D0F8-E64DD165CA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F970E7-B941-4A50-AD84-8BE5A46F24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442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1E8F6D-1E65-7A0B-7576-BDDF1F27E6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1A60AF-EA9D-8C1B-372B-8B2BE9B8CB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F1C214-6D4B-1FFE-E089-D457C44173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27808D-32A1-E2C1-C409-953B366B05C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4944186-C1D1-968E-EA82-87A30A07A63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AE9302D-C199-77DD-CE6B-52793ABAB9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F085FC-C65E-4611-A623-9391468A01B7}" type="datetimeFigureOut">
              <a:rPr lang="en-IN" smtClean="0"/>
              <a:t>04-09-2026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DF50F63-3A15-16FD-39F5-FC023158D4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4CBBEA3-6FE3-02CC-5432-11668E328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F970E7-B941-4A50-AD84-8BE5A46F24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71736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6C36F0-E42F-0A30-9708-F1034C0AAF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F68A805-E00B-C75A-F92A-AE5F07A4CF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F085FC-C65E-4611-A623-9391468A01B7}" type="datetimeFigureOut">
              <a:rPr lang="en-IN" smtClean="0"/>
              <a:t>04-09-2026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3C2C404-88BC-4D55-B738-DF237F0D7D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EE3EDE-6B1D-AAD8-6322-37393ECD30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F970E7-B941-4A50-AD84-8BE5A46F24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43075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5647BB-CD6E-D8C1-41FE-A8462D05DD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F085FC-C65E-4611-A623-9391468A01B7}" type="datetimeFigureOut">
              <a:rPr lang="en-IN" smtClean="0"/>
              <a:t>04-09-2026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C3AB083-8FB9-923B-73AB-BD94516CDC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DC5187-A960-9C70-C530-5F74D6573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F970E7-B941-4A50-AD84-8BE5A46F24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58578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D7082F-EA61-1A69-C65D-25DB345100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319031-C3DF-411A-0116-94F281A30C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7B86A1-B300-CAC5-1CFE-B9DB5CA20F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37FC9D-FA78-7B5E-1149-9FA9DE4B4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F085FC-C65E-4611-A623-9391468A01B7}" type="datetimeFigureOut">
              <a:rPr lang="en-IN" smtClean="0"/>
              <a:t>04-09-2026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5F1F10-C111-2C96-B8B8-29ADEC8745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331B7E-27A6-92C4-970B-123B785A9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F970E7-B941-4A50-AD84-8BE5A46F24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27539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093316-E310-1D57-1BF6-C9FBA84044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A780FDD-AB9C-289B-57A7-03695E68AC5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C810A3C-EB3D-5941-18FB-BC8874E311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3873A1-B91E-AC39-914C-6BFEC2291F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F085FC-C65E-4611-A623-9391468A01B7}" type="datetimeFigureOut">
              <a:rPr lang="en-IN" smtClean="0"/>
              <a:t>04-09-2026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BE86E0-B2BF-14B9-007E-8204C56417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D79034-4E58-4A08-E060-8205630C74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F970E7-B941-4A50-AD84-8BE5A46F24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0374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A5B229-223F-8475-13EF-F87E4920C6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F8D9E4-2980-F0A8-E740-E4EFC27DDC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2F40DD-F71E-FF2B-6C4E-FB47D5E8E9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F085FC-C65E-4611-A623-9391468A01B7}" type="datetimeFigureOut">
              <a:rPr lang="en-IN" smtClean="0"/>
              <a:t>04-09-2026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74762A-8207-52DB-4F5B-A51F5A1457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E28777-ADFC-4AFB-F6D7-C7B858BF8B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F970E7-B941-4A50-AD84-8BE5A46F24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4650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4A34B2-C388-46B1-805A-F736996EE0E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D101A46-6508-DF9A-5435-838DB38BB4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8ED209-1BD9-D769-6959-6107D5E031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F085FC-C65E-4611-A623-9391468A01B7}" type="datetimeFigureOut">
              <a:rPr lang="en-IN" smtClean="0"/>
              <a:t>04-09-2026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0CCB85-9366-FB23-0FAB-419075DF4E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483C86-0B21-1B16-1CAB-0A5AC18498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F970E7-B941-4A50-AD84-8BE5A46F24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6024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90B2942-EF85-D628-96E7-190CCDD096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D6DDDC-774C-2DDC-CD1B-E5A0E7CAE6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BEF605-9E6D-A1C6-CB5D-B66CF31E487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8F085FC-C65E-4611-A623-9391468A01B7}" type="datetimeFigureOut">
              <a:rPr lang="en-IN" smtClean="0"/>
              <a:t>04-09-2026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241B5B-FAC2-E80A-6749-F2D01224CE8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D55C40-38B9-A810-7CB7-630D94859E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FF970E7-B941-4A50-AD84-8BE5A46F24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19680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9ADE61-0093-AFBC-50C9-6D55D54DEC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900690"/>
            <a:ext cx="9144000" cy="1302182"/>
          </a:xfrm>
        </p:spPr>
        <p:txBody>
          <a:bodyPr>
            <a:normAutofit/>
          </a:bodyPr>
          <a:lstStyle/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JOB SKILL EXTRACTION AND NORMALIZATION USING NLP</a:t>
            </a:r>
            <a:endParaRPr lang="en-IN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C32092-DCA0-C9CC-2E68-A10C51B780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743056"/>
            <a:ext cx="9144000" cy="3020435"/>
          </a:xfrm>
        </p:spPr>
        <p:txBody>
          <a:bodyPr>
            <a:norm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An NLP-Based Job Market Analysis Project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Presented by :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JAIRAJ CHOUDHARY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Course :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Data Analytics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Project Duration :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Day 1 – Day 18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91577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A9E56B-9C73-6F26-0F53-47AE55BA34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8655" y="235527"/>
            <a:ext cx="10349345" cy="673328"/>
          </a:xfrm>
        </p:spPr>
        <p:txBody>
          <a:bodyPr>
            <a:normAutofit/>
          </a:bodyPr>
          <a:lstStyle/>
          <a:p>
            <a:pPr algn="l"/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Problem Statement</a:t>
            </a:r>
            <a:endParaRPr lang="en-IN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A0B5E43A-09DB-61B0-90E1-3C2004D80D7E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942109" y="1450926"/>
            <a:ext cx="10501746" cy="2754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Content 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IN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Job descriptions contain a large amount of unstructured text. Identifying and standardizing technical skills from these descriptions manually is difficult and time-consuming.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9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lang="en-US" altLang="en-US" sz="1900" dirty="0">
                <a:latin typeface="Arial" panose="020B0604020202020204" pitchFamily="34" charset="0"/>
              </a:rPr>
              <a:t>Job descriptions contain unstructured information.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lang="en-US" altLang="en-US" sz="1900" dirty="0">
                <a:latin typeface="Arial" panose="020B0604020202020204" pitchFamily="34" charset="0"/>
              </a:rPr>
              <a:t>Skill may appear in different formats.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9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</a:t>
            </a:r>
            <a:r>
              <a:rPr lang="en-US" altLang="en-US" sz="1900" dirty="0">
                <a:latin typeface="Arial" panose="020B0604020202020204" pitchFamily="34" charset="0"/>
              </a:rPr>
              <a:t>e same skill can have multiple names.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lang="en-US" altLang="en-US" sz="1900" dirty="0">
                <a:latin typeface="Arial" panose="020B0604020202020204" pitchFamily="34" charset="0"/>
              </a:rPr>
              <a:t>Manual extraction can lead to inconsistency.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lang="en-US" altLang="en-US" sz="1900" dirty="0">
                <a:latin typeface="Arial" panose="020B0604020202020204" pitchFamily="34" charset="0"/>
              </a:rPr>
              <a:t>NLP can be used to extract and standardize skills.</a:t>
            </a:r>
          </a:p>
        </p:txBody>
      </p:sp>
    </p:spTree>
    <p:extLst>
      <p:ext uri="{BB962C8B-B14F-4D97-AF65-F5344CB8AC3E}">
        <p14:creationId xmlns:p14="http://schemas.microsoft.com/office/powerpoint/2010/main" val="29710944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64D5EE-9F9C-F662-4EAD-68A27A0959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6472" y="498765"/>
            <a:ext cx="9268691" cy="491836"/>
          </a:xfrm>
        </p:spPr>
        <p:txBody>
          <a:bodyPr>
            <a:normAutofit/>
          </a:bodyPr>
          <a:lstStyle/>
          <a:p>
            <a:pPr algn="l"/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Business Use Case</a:t>
            </a:r>
            <a:endParaRPr lang="en-IN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17E0E28-5A98-991E-7836-D13B396D1C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163638"/>
            <a:ext cx="9144000" cy="4627562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Recruitment</a:t>
            </a:r>
          </a:p>
          <a:p>
            <a:pPr algn="l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Identify required skills for jobs.</a:t>
            </a:r>
          </a:p>
          <a:p>
            <a:pPr algn="l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Job Matching</a:t>
            </a:r>
          </a:p>
          <a:p>
            <a:pPr algn="l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Match candidates with relevant jobs.</a:t>
            </a:r>
          </a:p>
          <a:p>
            <a:pPr algn="l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Skill Demand Analysis</a:t>
            </a:r>
          </a:p>
          <a:p>
            <a:pPr algn="l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Find the most demanded skills.</a:t>
            </a:r>
          </a:p>
          <a:p>
            <a:pPr algn="l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Career Insights</a:t>
            </a:r>
          </a:p>
          <a:p>
            <a:pPr algn="l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Understand which skills are valuable in the job market.</a:t>
            </a:r>
          </a:p>
          <a:p>
            <a:pPr algn="l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Dashboard &amp; Reporting</a:t>
            </a:r>
          </a:p>
          <a:p>
            <a:pPr algn="l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Convert skill data into useful visualizations.</a:t>
            </a:r>
          </a:p>
        </p:txBody>
      </p:sp>
    </p:spTree>
    <p:extLst>
      <p:ext uri="{BB962C8B-B14F-4D97-AF65-F5344CB8AC3E}">
        <p14:creationId xmlns:p14="http://schemas.microsoft.com/office/powerpoint/2010/main" val="28407588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7F105A-03D2-2C96-46EC-A695C5CC86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5637" y="110980"/>
            <a:ext cx="9144000" cy="886546"/>
          </a:xfrm>
        </p:spPr>
        <p:txBody>
          <a:bodyPr>
            <a:normAutofit/>
          </a:bodyPr>
          <a:lstStyle/>
          <a:p>
            <a:pPr algn="l"/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Dataset</a:t>
            </a:r>
            <a:endParaRPr lang="en-IN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AA4D7D5-D003-D4F1-221C-DC1D8C6324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11732" y="3982812"/>
            <a:ext cx="9144000" cy="2383196"/>
          </a:xfrm>
        </p:spPr>
        <p:txBody>
          <a:bodyPr/>
          <a:lstStyle/>
          <a:p>
            <a:pPr algn="l"/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en-US" sz="1900" b="1" dirty="0">
                <a:latin typeface="Arial" panose="020B0604020202020204" pitchFamily="34" charset="0"/>
                <a:cs typeface="Arial" panose="020B0604020202020204" pitchFamily="34" charset="0"/>
              </a:rPr>
              <a:t>Dataset Type :</a:t>
            </a: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 Job/Recruitment Dataset</a:t>
            </a:r>
          </a:p>
          <a:p>
            <a:pPr algn="l"/>
            <a:r>
              <a:rPr lang="en-US" sz="1900" b="1" dirty="0">
                <a:latin typeface="Arial" panose="020B0604020202020204" pitchFamily="34" charset="0"/>
                <a:cs typeface="Arial" panose="020B0604020202020204" pitchFamily="34" charset="0"/>
              </a:rPr>
              <a:t>Main NLP Field :</a:t>
            </a: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 Job description</a:t>
            </a:r>
          </a:p>
          <a:p>
            <a:pPr algn="l"/>
            <a:r>
              <a:rPr lang="en-US" sz="1900" b="1" dirty="0">
                <a:latin typeface="Arial" panose="020B0604020202020204" pitchFamily="34" charset="0"/>
                <a:cs typeface="Arial" panose="020B0604020202020204" pitchFamily="34" charset="0"/>
              </a:rPr>
              <a:t>Skill Field :</a:t>
            </a: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 Extracted skills</a:t>
            </a:r>
            <a:endParaRPr lang="en-IN" sz="1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BAD9CF6-6CE8-803F-E99E-99A0669817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732" y="1517038"/>
            <a:ext cx="10168535" cy="88654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CCA9FCB-AEB0-DB81-A92B-91F316BAAE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1732" y="1239229"/>
            <a:ext cx="10850489" cy="2743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93617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0403EB-644B-DF6D-7DFC-947510076E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5636" y="374217"/>
            <a:ext cx="9144000" cy="477837"/>
          </a:xfrm>
        </p:spPr>
        <p:txBody>
          <a:bodyPr>
            <a:normAutofit/>
          </a:bodyPr>
          <a:lstStyle/>
          <a:p>
            <a:pPr algn="l"/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Data Cleaning &amp; Preprocessing</a:t>
            </a:r>
            <a:endParaRPr lang="en-IN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3ABF8FA-1197-4EC9-F455-C915767D91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05346" y="1884073"/>
            <a:ext cx="3782290" cy="2362345"/>
          </a:xfrm>
        </p:spPr>
        <p:txBody>
          <a:bodyPr>
            <a:normAutofit/>
          </a:bodyPr>
          <a:lstStyle/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Missing-value handling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Duplicate checking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Text cleaning 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Lowercase conversion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Special-character handling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Data standardization</a:t>
            </a:r>
            <a:endParaRPr lang="en-IN" sz="1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93045ED-FE65-8C33-A2BE-804E7A4657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763" y="981019"/>
            <a:ext cx="3311237" cy="5295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45791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E968D2-9C20-D795-1C30-39212F54CB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7091" y="263381"/>
            <a:ext cx="9144000" cy="477837"/>
          </a:xfrm>
        </p:spPr>
        <p:txBody>
          <a:bodyPr>
            <a:normAutofit/>
          </a:bodyPr>
          <a:lstStyle/>
          <a:p>
            <a:pPr algn="l"/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Exploratory Data Analysis(EDA)</a:t>
            </a:r>
            <a:endParaRPr lang="en-IN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FB6482-0C63-5FE0-132E-1BB3B9D8D3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9926" y="1066655"/>
            <a:ext cx="8797637" cy="4752254"/>
          </a:xfrm>
        </p:spPr>
        <p:txBody>
          <a:bodyPr>
            <a:noAutofit/>
          </a:bodyPr>
          <a:lstStyle/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Top Job Titles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Jobs by Location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IN" sz="1900" dirty="0">
                <a:latin typeface="Arial" panose="020B0604020202020204" pitchFamily="34" charset="0"/>
                <a:cs typeface="Arial" panose="020B0604020202020204" pitchFamily="34" charset="0"/>
              </a:rPr>
              <a:t>Experience Distribution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IN" sz="1900" dirty="0">
                <a:latin typeface="Arial" panose="020B0604020202020204" pitchFamily="34" charset="0"/>
                <a:cs typeface="Arial" panose="020B0604020202020204" pitchFamily="34" charset="0"/>
              </a:rPr>
              <a:t>Salary Distribution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IN" sz="1900" dirty="0">
                <a:latin typeface="Arial" panose="020B0604020202020204" pitchFamily="34" charset="0"/>
                <a:cs typeface="Arial" panose="020B0604020202020204" pitchFamily="34" charset="0"/>
              </a:rPr>
              <a:t>Most Common Skills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endParaRPr lang="en-IN" sz="19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en-IN" sz="1900" dirty="0">
                <a:latin typeface="Arial" panose="020B0604020202020204" pitchFamily="34" charset="0"/>
                <a:cs typeface="Arial" panose="020B0604020202020204" pitchFamily="34" charset="0"/>
              </a:rPr>
              <a:t>EDA helped identify patterns in job titles, experience, salary and skill requirements.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9AFD74C-0102-479D-82A3-3121E5AC28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7829" y="4108247"/>
            <a:ext cx="8306959" cy="2486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53984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93E76C-3F94-BAE3-B9FD-D7D046E794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0218" y="131474"/>
            <a:ext cx="9144000" cy="664873"/>
          </a:xfrm>
        </p:spPr>
        <p:txBody>
          <a:bodyPr>
            <a:normAutofit/>
          </a:bodyPr>
          <a:lstStyle/>
          <a:p>
            <a:pPr algn="l"/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NLP Pipeline</a:t>
            </a:r>
            <a:endParaRPr lang="en-IN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D9AEA19-283D-6B84-075A-FDD6804FDD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63782" y="796346"/>
            <a:ext cx="9144000" cy="6061653"/>
          </a:xfrm>
        </p:spPr>
        <p:txBody>
          <a:bodyPr>
            <a:noAutofit/>
          </a:bodyPr>
          <a:lstStyle/>
          <a:p>
            <a:r>
              <a:rPr lang="en-IN" sz="1900" dirty="0">
                <a:latin typeface="Arial" panose="020B0604020202020204" pitchFamily="34" charset="0"/>
                <a:cs typeface="Arial" panose="020B0604020202020204" pitchFamily="34" charset="0"/>
              </a:rPr>
              <a:t>Job Description</a:t>
            </a:r>
          </a:p>
          <a:p>
            <a:r>
              <a:rPr lang="en-IN" sz="1900" dirty="0">
                <a:latin typeface="Arial" panose="020B0604020202020204" pitchFamily="34" charset="0"/>
                <a:cs typeface="Arial" panose="020B0604020202020204" pitchFamily="34" charset="0"/>
              </a:rPr>
              <a:t> ↓</a:t>
            </a:r>
          </a:p>
          <a:p>
            <a:r>
              <a:rPr lang="en-IN" sz="1900" dirty="0">
                <a:latin typeface="Arial" panose="020B0604020202020204" pitchFamily="34" charset="0"/>
                <a:cs typeface="Arial" panose="020B0604020202020204" pitchFamily="34" charset="0"/>
              </a:rPr>
              <a:t>Text Preprocessing</a:t>
            </a:r>
          </a:p>
          <a:p>
            <a:r>
              <a:rPr lang="en-IN" sz="1900" dirty="0">
                <a:latin typeface="Arial" panose="020B0604020202020204" pitchFamily="34" charset="0"/>
                <a:cs typeface="Arial" panose="020B0604020202020204" pitchFamily="34" charset="0"/>
              </a:rPr>
              <a:t>↓</a:t>
            </a:r>
          </a:p>
          <a:p>
            <a:r>
              <a:rPr lang="en-IN" sz="1900" dirty="0">
                <a:latin typeface="Arial" panose="020B0604020202020204" pitchFamily="34" charset="0"/>
                <a:cs typeface="Arial" panose="020B0604020202020204" pitchFamily="34" charset="0"/>
              </a:rPr>
              <a:t>Tokenization</a:t>
            </a:r>
          </a:p>
          <a:p>
            <a:r>
              <a:rPr lang="en-IN" sz="1900" dirty="0">
                <a:latin typeface="Arial" panose="020B0604020202020204" pitchFamily="34" charset="0"/>
                <a:cs typeface="Arial" panose="020B0604020202020204" pitchFamily="34" charset="0"/>
              </a:rPr>
              <a:t> ↓      </a:t>
            </a:r>
          </a:p>
          <a:p>
            <a:r>
              <a:rPr lang="en-IN" sz="1900" dirty="0" err="1">
                <a:latin typeface="Arial" panose="020B0604020202020204" pitchFamily="34" charset="0"/>
                <a:cs typeface="Arial" panose="020B0604020202020204" pitchFamily="34" charset="0"/>
              </a:rPr>
              <a:t>Stopword</a:t>
            </a:r>
            <a:r>
              <a:rPr lang="en-IN" sz="1900" dirty="0">
                <a:latin typeface="Arial" panose="020B0604020202020204" pitchFamily="34" charset="0"/>
                <a:cs typeface="Arial" panose="020B0604020202020204" pitchFamily="34" charset="0"/>
              </a:rPr>
              <a:t> Handling</a:t>
            </a:r>
          </a:p>
          <a:p>
            <a:r>
              <a:rPr lang="en-IN" sz="1900" dirty="0">
                <a:latin typeface="Arial" panose="020B0604020202020204" pitchFamily="34" charset="0"/>
                <a:cs typeface="Arial" panose="020B0604020202020204" pitchFamily="34" charset="0"/>
              </a:rPr>
              <a:t> ↓</a:t>
            </a:r>
          </a:p>
          <a:p>
            <a:r>
              <a:rPr lang="en-IN" sz="1900" dirty="0">
                <a:latin typeface="Arial" panose="020B0604020202020204" pitchFamily="34" charset="0"/>
                <a:cs typeface="Arial" panose="020B0604020202020204" pitchFamily="34" charset="0"/>
              </a:rPr>
              <a:t>NLP Processing</a:t>
            </a:r>
          </a:p>
          <a:p>
            <a:r>
              <a:rPr lang="en-IN" sz="1900" dirty="0">
                <a:latin typeface="Arial" panose="020B0604020202020204" pitchFamily="34" charset="0"/>
                <a:cs typeface="Arial" panose="020B0604020202020204" pitchFamily="34" charset="0"/>
              </a:rPr>
              <a:t>↓</a:t>
            </a:r>
          </a:p>
          <a:p>
            <a:r>
              <a:rPr lang="en-IN" sz="1900" dirty="0">
                <a:latin typeface="Arial" panose="020B0604020202020204" pitchFamily="34" charset="0"/>
                <a:cs typeface="Arial" panose="020B0604020202020204" pitchFamily="34" charset="0"/>
              </a:rPr>
              <a:t>Skill Extraction</a:t>
            </a:r>
          </a:p>
          <a:p>
            <a:r>
              <a:rPr lang="en-IN" sz="1900" dirty="0">
                <a:latin typeface="Arial" panose="020B0604020202020204" pitchFamily="34" charset="0"/>
                <a:cs typeface="Arial" panose="020B0604020202020204" pitchFamily="34" charset="0"/>
              </a:rPr>
              <a:t>↓</a:t>
            </a:r>
          </a:p>
          <a:p>
            <a:r>
              <a:rPr lang="en-IN" sz="1900" dirty="0">
                <a:latin typeface="Arial" panose="020B0604020202020204" pitchFamily="34" charset="0"/>
                <a:cs typeface="Arial" panose="020B0604020202020204" pitchFamily="34" charset="0"/>
              </a:rPr>
              <a:t>Skill Normalization</a:t>
            </a:r>
          </a:p>
          <a:p>
            <a:r>
              <a:rPr lang="en-IN" sz="1900" dirty="0">
                <a:latin typeface="Arial" panose="020B0604020202020204" pitchFamily="34" charset="0"/>
                <a:cs typeface="Arial" panose="020B0604020202020204" pitchFamily="34" charset="0"/>
              </a:rPr>
              <a:t> ↓</a:t>
            </a:r>
          </a:p>
          <a:p>
            <a:r>
              <a:rPr lang="en-IN" sz="1900" dirty="0">
                <a:latin typeface="Arial" panose="020B0604020202020204" pitchFamily="34" charset="0"/>
                <a:cs typeface="Arial" panose="020B0604020202020204" pitchFamily="34" charset="0"/>
              </a:rPr>
              <a:t>Final Skill Dataset</a:t>
            </a:r>
          </a:p>
        </p:txBody>
      </p:sp>
    </p:spTree>
    <p:extLst>
      <p:ext uri="{BB962C8B-B14F-4D97-AF65-F5344CB8AC3E}">
        <p14:creationId xmlns:p14="http://schemas.microsoft.com/office/powerpoint/2010/main" val="36274483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762C39-FDB8-6A55-CE16-183F2F3580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2509" y="235672"/>
            <a:ext cx="9144000" cy="581746"/>
          </a:xfrm>
        </p:spPr>
        <p:txBody>
          <a:bodyPr>
            <a:normAutofit/>
          </a:bodyPr>
          <a:lstStyle/>
          <a:p>
            <a:pPr algn="l"/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Rule Based Approach</a:t>
            </a:r>
            <a:endParaRPr lang="en-IN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086B0EB-2AEE-6F8E-F3EE-4E46995419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19201" y="914399"/>
            <a:ext cx="9144000" cy="5417127"/>
          </a:xfrm>
        </p:spPr>
        <p:txBody>
          <a:bodyPr>
            <a:normAutofit/>
          </a:bodyPr>
          <a:lstStyle/>
          <a:p>
            <a:pPr algn="l"/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A rule-based approach identifies skills using predefined keywords, patterns and dictionaries</a:t>
            </a:r>
          </a:p>
          <a:p>
            <a:pPr algn="l"/>
            <a:endParaRPr lang="en-US" sz="19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en-US" sz="1900" b="1" dirty="0">
                <a:latin typeface="Arial" panose="020B0604020202020204" pitchFamily="34" charset="0"/>
                <a:cs typeface="Arial" panose="020B0604020202020204" pitchFamily="34" charset="0"/>
              </a:rPr>
              <a:t>Job Description :</a:t>
            </a:r>
          </a:p>
          <a:p>
            <a:pPr algn="l"/>
            <a:endParaRPr lang="en-US" sz="19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endParaRPr lang="en-US" sz="19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endParaRPr lang="en-US" sz="19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endParaRPr lang="en-US" sz="19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endParaRPr lang="en-US" sz="19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en-US" sz="1900" b="1" dirty="0">
                <a:latin typeface="Arial" panose="020B0604020202020204" pitchFamily="34" charset="0"/>
                <a:cs typeface="Arial" panose="020B0604020202020204" pitchFamily="34" charset="0"/>
              </a:rPr>
              <a:t>Extracted Skills :</a:t>
            </a:r>
            <a:endParaRPr lang="en-IN" sz="19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C7B9C9C-B038-4388-F173-1B2A5B86E6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1" y="2354638"/>
            <a:ext cx="9753598" cy="146852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22BC877-6C89-4C83-D15D-CC09B45363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9201" y="4730805"/>
            <a:ext cx="2221184" cy="1697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20039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84A4D3-A6CB-D8C6-B650-D94942ECE9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0837" y="221673"/>
            <a:ext cx="8880764" cy="565440"/>
          </a:xfrm>
        </p:spPr>
        <p:txBody>
          <a:bodyPr>
            <a:normAutofit/>
          </a:bodyPr>
          <a:lstStyle/>
          <a:p>
            <a:pPr algn="l"/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Machine Learning Approach</a:t>
            </a:r>
            <a:endParaRPr lang="en-IN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E327AA2-6521-AC06-5EA3-D29F2B90E0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2727" y="941965"/>
            <a:ext cx="9144000" cy="5694362"/>
          </a:xfrm>
        </p:spPr>
        <p:txBody>
          <a:bodyPr>
            <a:normAutofit/>
          </a:bodyPr>
          <a:lstStyle/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Machine learning can learn patterns from labeled data.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IN" sz="1900" dirty="0">
                <a:latin typeface="Arial" panose="020B0604020202020204" pitchFamily="34" charset="0"/>
                <a:cs typeface="Arial" panose="020B0604020202020204" pitchFamily="34" charset="0"/>
              </a:rPr>
              <a:t>Features can be created from job-description text.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IN" sz="1900" dirty="0">
                <a:latin typeface="Arial" panose="020B0604020202020204" pitchFamily="34" charset="0"/>
                <a:cs typeface="Arial" panose="020B0604020202020204" pitchFamily="34" charset="0"/>
              </a:rPr>
              <a:t>The model can classify or identify relevant skills.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IN" sz="1900" dirty="0">
                <a:latin typeface="Arial" panose="020B0604020202020204" pitchFamily="34" charset="0"/>
                <a:cs typeface="Arial" panose="020B0604020202020204" pitchFamily="34" charset="0"/>
              </a:rPr>
              <a:t>ML can reduce dependence on manually written rules.</a:t>
            </a:r>
          </a:p>
          <a:p>
            <a:pPr algn="l"/>
            <a:r>
              <a:rPr lang="en-IN" sz="1900" b="1" dirty="0">
                <a:latin typeface="Arial" panose="020B0604020202020204" pitchFamily="34" charset="0"/>
                <a:cs typeface="Arial" panose="020B0604020202020204" pitchFamily="34" charset="0"/>
              </a:rPr>
              <a:t>Model :</a:t>
            </a:r>
          </a:p>
          <a:p>
            <a:pPr algn="l"/>
            <a:endParaRPr lang="en-IN" sz="19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buFont typeface="Wingdings" panose="05000000000000000000" pitchFamily="2" charset="2"/>
              <a:buChar char="Ø"/>
            </a:pPr>
            <a:endParaRPr lang="en-IN" sz="19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endParaRPr lang="en-IN" sz="19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en-IN" sz="1900" b="1" dirty="0">
                <a:latin typeface="Arial" panose="020B0604020202020204" pitchFamily="34" charset="0"/>
                <a:cs typeface="Arial" panose="020B0604020202020204" pitchFamily="34" charset="0"/>
              </a:rPr>
              <a:t>Accuracy 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04B96D1-B95B-500F-0C21-B2EF609FCA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3781" y="4463656"/>
            <a:ext cx="7356764" cy="217267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A9D267E-3097-8CA3-3CEF-D077BEC6C0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8486" y="2775407"/>
            <a:ext cx="8278241" cy="1307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78976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A6C312-C2AD-CF65-69DE-394966DD8E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8545" y="207963"/>
            <a:ext cx="9144000" cy="477837"/>
          </a:xfrm>
        </p:spPr>
        <p:txBody>
          <a:bodyPr>
            <a:normAutofit/>
          </a:bodyPr>
          <a:lstStyle/>
          <a:p>
            <a:pPr algn="l"/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Transformer Approach</a:t>
            </a:r>
            <a:endParaRPr lang="en-IN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47B95CF-E9D1-D6A2-DCEE-6D3179218A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9928" y="789565"/>
            <a:ext cx="9144000" cy="5860471"/>
          </a:xfrm>
        </p:spPr>
        <p:txBody>
          <a:bodyPr>
            <a:normAutofit/>
          </a:bodyPr>
          <a:lstStyle/>
          <a:p>
            <a:pPr algn="l"/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Transformer-based NLP models can understand the context and semantic meaning of words in job descriptions.</a:t>
            </a:r>
          </a:p>
          <a:p>
            <a:pPr algn="l"/>
            <a:endParaRPr lang="en-US" sz="19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Better contextual understanding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Can identify differently worded skills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Useful for advanced skill extraction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More computationally expensive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Suitable for future improvement if not implemented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endParaRPr lang="en-IN" sz="1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BEB8B59-4C16-FCAC-6CDF-40C6765F5D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618" y="3962240"/>
            <a:ext cx="11180618" cy="2286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33261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34CE42-AA83-3384-628D-34A2EFCD89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" y="152400"/>
            <a:ext cx="9144000" cy="475818"/>
          </a:xfrm>
        </p:spPr>
        <p:txBody>
          <a:bodyPr>
            <a:normAutofit/>
          </a:bodyPr>
          <a:lstStyle/>
          <a:p>
            <a:pPr algn="l"/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Model Comparison</a:t>
            </a:r>
            <a:endParaRPr lang="en-IN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773C19A-CAAB-7660-08BB-80116498BE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74618" y="3713018"/>
            <a:ext cx="9144000" cy="2195946"/>
          </a:xfrm>
        </p:spPr>
        <p:txBody>
          <a:bodyPr/>
          <a:lstStyle/>
          <a:p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CD841DA-90AD-6505-FC7A-ADA48FE539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518" y="2826899"/>
            <a:ext cx="11564964" cy="3381847"/>
          </a:xfrm>
          <a:prstGeom prst="rect">
            <a:avLst/>
          </a:prstGeom>
        </p:spPr>
      </p:pic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01685CC5-268D-49D3-810C-E90DFF85C6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258311"/>
              </p:ext>
            </p:extLst>
          </p:nvPr>
        </p:nvGraphicFramePr>
        <p:xfrm>
          <a:off x="313518" y="778108"/>
          <a:ext cx="11564964" cy="1898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54988">
                  <a:extLst>
                    <a:ext uri="{9D8B030D-6E8A-4147-A177-3AD203B41FA5}">
                      <a16:colId xmlns:a16="http://schemas.microsoft.com/office/drawing/2014/main" val="2663507367"/>
                    </a:ext>
                  </a:extLst>
                </a:gridCol>
                <a:gridCol w="3854988">
                  <a:extLst>
                    <a:ext uri="{9D8B030D-6E8A-4147-A177-3AD203B41FA5}">
                      <a16:colId xmlns:a16="http://schemas.microsoft.com/office/drawing/2014/main" val="1005657230"/>
                    </a:ext>
                  </a:extLst>
                </a:gridCol>
                <a:gridCol w="3854988">
                  <a:extLst>
                    <a:ext uri="{9D8B030D-6E8A-4147-A177-3AD203B41FA5}">
                      <a16:colId xmlns:a16="http://schemas.microsoft.com/office/drawing/2014/main" val="4223903131"/>
                    </a:ext>
                  </a:extLst>
                </a:gridCol>
              </a:tblGrid>
              <a:tr h="474725">
                <a:tc>
                  <a:txBody>
                    <a:bodyPr/>
                    <a:lstStyle/>
                    <a:p>
                      <a:r>
                        <a:rPr lang="en-US" dirty="0"/>
                        <a:t>Approach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Technique / Model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Advantage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7024805"/>
                  </a:ext>
                </a:extLst>
              </a:tr>
              <a:tr h="474725">
                <a:tc>
                  <a:txBody>
                    <a:bodyPr/>
                    <a:lstStyle/>
                    <a:p>
                      <a:r>
                        <a:rPr lang="en-US"/>
                        <a:t>Rule-Based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Keyword / Alias Rules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Simple &amp; Fast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942565"/>
                  </a:ext>
                </a:extLst>
              </a:tr>
              <a:tr h="474725">
                <a:tc>
                  <a:txBody>
                    <a:bodyPr/>
                    <a:lstStyle/>
                    <a:p>
                      <a:r>
                        <a:rPr lang="en-US"/>
                        <a:t>Machine Learning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TF-IDF + Logistic Regression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Learn patterns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9712569"/>
                  </a:ext>
                </a:extLst>
              </a:tr>
              <a:tr h="474725">
                <a:tc>
                  <a:txBody>
                    <a:bodyPr/>
                    <a:lstStyle/>
                    <a:p>
                      <a:r>
                        <a:rPr lang="en-US"/>
                        <a:t>Transformer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BERT NER(</a:t>
                      </a:r>
                      <a:r>
                        <a:rPr lang="en-US" dirty="0" err="1"/>
                        <a:t>dslim</a:t>
                      </a:r>
                      <a:r>
                        <a:rPr lang="en-US" dirty="0"/>
                        <a:t> / </a:t>
                      </a:r>
                      <a:r>
                        <a:rPr lang="en-US" dirty="0" err="1"/>
                        <a:t>bert</a:t>
                      </a:r>
                      <a:r>
                        <a:rPr lang="en-US" dirty="0"/>
                        <a:t>-base-NER)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Strong contextual understanding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28301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02195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C81CF-27F2-B97B-2F7B-9147471774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0836" y="96982"/>
            <a:ext cx="9144000" cy="586654"/>
          </a:xfrm>
        </p:spPr>
        <p:txBody>
          <a:bodyPr>
            <a:normAutofit/>
          </a:bodyPr>
          <a:lstStyle/>
          <a:p>
            <a:pPr algn="l"/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Error Analysis</a:t>
            </a:r>
            <a:endParaRPr lang="en-IN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3B2389C-64C9-48E4-2546-09EACBE877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66800" y="725056"/>
            <a:ext cx="9144000" cy="5273962"/>
          </a:xfrm>
        </p:spPr>
        <p:txBody>
          <a:bodyPr>
            <a:normAutofit/>
          </a:bodyPr>
          <a:lstStyle/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Misspelled skills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Unknown skills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Different skill formats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Special characters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New / unseen aliases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Multiple skills in one text field</a:t>
            </a:r>
            <a:endParaRPr lang="en-IN" sz="1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715D2AA-B606-4811-361C-D2B1FAEB7A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26727" y="1050391"/>
            <a:ext cx="3976252" cy="4061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20325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844088-01D8-E4CF-68C6-3C2D7CD141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0836" y="132201"/>
            <a:ext cx="9144000" cy="531236"/>
          </a:xfrm>
        </p:spPr>
        <p:txBody>
          <a:bodyPr>
            <a:normAutofit/>
          </a:bodyPr>
          <a:lstStyle/>
          <a:p>
            <a:pPr algn="l"/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Skill Normalization</a:t>
            </a:r>
            <a:endParaRPr lang="en-IN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13A5DFB-F6A1-81A7-3277-B0E1DFF21C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98764" y="901954"/>
            <a:ext cx="5084619" cy="3545356"/>
          </a:xfrm>
        </p:spPr>
        <p:txBody>
          <a:bodyPr>
            <a:normAutofit/>
          </a:bodyPr>
          <a:lstStyle/>
          <a:p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Raw Skill</a:t>
            </a:r>
          </a:p>
          <a:p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↓</a:t>
            </a:r>
          </a:p>
          <a:p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Lowercase</a:t>
            </a:r>
          </a:p>
          <a:p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↓</a:t>
            </a:r>
          </a:p>
          <a:p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Remove Special Characters</a:t>
            </a:r>
          </a:p>
          <a:p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↓</a:t>
            </a:r>
          </a:p>
          <a:p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Alias Matching</a:t>
            </a:r>
          </a:p>
          <a:p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↓</a:t>
            </a:r>
          </a:p>
          <a:p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Canonical Skill</a:t>
            </a:r>
            <a:endParaRPr lang="en-IN" sz="1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DA9E532-FC95-8B1F-3BC9-B061CFCBE3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2163" y="1490116"/>
            <a:ext cx="3486637" cy="2838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860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3493DD-9734-C636-5925-511ABEB030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" y="138545"/>
            <a:ext cx="9144000" cy="531236"/>
          </a:xfrm>
        </p:spPr>
        <p:txBody>
          <a:bodyPr>
            <a:normAutofit/>
          </a:bodyPr>
          <a:lstStyle/>
          <a:p>
            <a:pPr algn="l"/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Dashboard</a:t>
            </a:r>
            <a:endParaRPr lang="en-IN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20BB59C-595F-8117-D03A-5C11A0324B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08364" y="930636"/>
            <a:ext cx="9144000" cy="4996728"/>
          </a:xfrm>
        </p:spPr>
        <p:txBody>
          <a:bodyPr>
            <a:normAutofit/>
          </a:bodyPr>
          <a:lstStyle/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Total Jobs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Top Skills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Jobs by Location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Jobs by Job Title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Salary Analysis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Skill Distribution</a:t>
            </a:r>
            <a:endParaRPr lang="en-IN" sz="1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A2FC062-C77C-0A54-A506-35D43FED7A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2158" y="930636"/>
            <a:ext cx="8345065" cy="4677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01573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C98577-6340-3D29-5C6A-1A748FAB2C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6982" y="110835"/>
            <a:ext cx="9144000" cy="503527"/>
          </a:xfrm>
        </p:spPr>
        <p:txBody>
          <a:bodyPr>
            <a:normAutofit/>
          </a:bodyPr>
          <a:lstStyle/>
          <a:p>
            <a:pPr algn="l"/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Application Demo</a:t>
            </a:r>
            <a:endParaRPr lang="en-IN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12CE78-A7AF-9A28-82A1-9E0B29236A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1230" y="775700"/>
            <a:ext cx="11470770" cy="6082299"/>
          </a:xfrm>
        </p:spPr>
        <p:txBody>
          <a:bodyPr>
            <a:normAutofit/>
          </a:bodyPr>
          <a:lstStyle/>
          <a:p>
            <a:pPr algn="l"/>
            <a:r>
              <a:rPr lang="en-US" sz="1900" b="1" dirty="0">
                <a:latin typeface="Arial" panose="020B0604020202020204" pitchFamily="34" charset="0"/>
                <a:cs typeface="Arial" panose="020B0604020202020204" pitchFamily="34" charset="0"/>
              </a:rPr>
              <a:t>Input :</a:t>
            </a:r>
          </a:p>
          <a:p>
            <a:pPr algn="l"/>
            <a:endParaRPr lang="en-US" sz="19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endParaRPr lang="en-US" sz="19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endParaRPr lang="en-US" sz="19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endParaRPr lang="en-US" sz="19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endParaRPr lang="en-US" sz="19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endParaRPr lang="en-US" sz="19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endParaRPr lang="en-US" sz="19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endParaRPr lang="en-US" sz="19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endParaRPr lang="en-US" sz="19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endParaRPr lang="en-US" sz="19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en-US" sz="1900" b="1" dirty="0">
                <a:latin typeface="Arial" panose="020B0604020202020204" pitchFamily="34" charset="0"/>
                <a:cs typeface="Arial" panose="020B0604020202020204" pitchFamily="34" charset="0"/>
              </a:rPr>
              <a:t>Output :</a:t>
            </a:r>
            <a:endParaRPr lang="en-IN" sz="19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36343E7-C393-47F8-1B9C-470254B993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8437" y="1181130"/>
            <a:ext cx="5928951" cy="391638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F9E01D4-6CBF-DC06-83AD-B251277897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8437" y="5502943"/>
            <a:ext cx="9583487" cy="1257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73715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661E05-ABC1-EF41-A89A-69DDBBED3E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0836" y="96982"/>
            <a:ext cx="9144000" cy="475818"/>
          </a:xfrm>
        </p:spPr>
        <p:txBody>
          <a:bodyPr>
            <a:normAutofit/>
          </a:bodyPr>
          <a:lstStyle/>
          <a:p>
            <a:pPr algn="l"/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Conclusion</a:t>
            </a:r>
            <a:endParaRPr lang="en-IN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994416B-2A5D-067A-8B50-9BE4B2CA22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72837" y="997383"/>
            <a:ext cx="9144000" cy="1655762"/>
          </a:xfrm>
        </p:spPr>
        <p:txBody>
          <a:bodyPr>
            <a:normAutofit/>
          </a:bodyPr>
          <a:lstStyle/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NLP helps process unstructured job descriptions.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Skills can be extracted and standardized.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Normalization improves consistency.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The processed data can be used for analysis and dashboards.</a:t>
            </a:r>
            <a:endParaRPr lang="en-IN" sz="1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01534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F4F298-4B8E-C10E-16F1-2C7B119029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0836" y="124691"/>
            <a:ext cx="9144000" cy="475818"/>
          </a:xfrm>
        </p:spPr>
        <p:txBody>
          <a:bodyPr>
            <a:normAutofit/>
          </a:bodyPr>
          <a:lstStyle/>
          <a:p>
            <a:pPr algn="l"/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Future Improvements</a:t>
            </a:r>
            <a:endParaRPr lang="en-IN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05C70C-539A-9C28-ED64-98AF007ADD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43891" y="1167245"/>
            <a:ext cx="9144000" cy="4523509"/>
          </a:xfrm>
        </p:spPr>
        <p:txBody>
          <a:bodyPr>
            <a:normAutofit/>
          </a:bodyPr>
          <a:lstStyle/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Expand the skill alias dictionary.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Add fuzzy matching.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Handle spelling mistakes.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Add more advanced ML models.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Explore transformer-based approaches.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Improve automatic detection of new skills.</a:t>
            </a:r>
            <a:endParaRPr lang="en-IN" sz="1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53940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875</TotalTime>
  <Words>511</Words>
  <Application>Microsoft Office PowerPoint</Application>
  <PresentationFormat>Widescreen</PresentationFormat>
  <Paragraphs>154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Aptos</vt:lpstr>
      <vt:lpstr>Aptos Display</vt:lpstr>
      <vt:lpstr>Arial</vt:lpstr>
      <vt:lpstr>Wingdings</vt:lpstr>
      <vt:lpstr>Office Theme</vt:lpstr>
      <vt:lpstr>JOB SKILL EXTRACTION AND NORMALIZATION USING NLP</vt:lpstr>
      <vt:lpstr>Problem Statement</vt:lpstr>
      <vt:lpstr>Business Use Case</vt:lpstr>
      <vt:lpstr>Dataset</vt:lpstr>
      <vt:lpstr>Data Cleaning &amp; Preprocessing</vt:lpstr>
      <vt:lpstr>Exploratory Data Analysis(EDA)</vt:lpstr>
      <vt:lpstr>NLP Pipeline</vt:lpstr>
      <vt:lpstr>Rule Based Approach</vt:lpstr>
      <vt:lpstr>Machine Learning Approach</vt:lpstr>
      <vt:lpstr>Transformer Approach</vt:lpstr>
      <vt:lpstr>Model Comparison</vt:lpstr>
      <vt:lpstr>Error Analysis</vt:lpstr>
      <vt:lpstr>Skill Normalization</vt:lpstr>
      <vt:lpstr>Dashboard</vt:lpstr>
      <vt:lpstr>Application Demo</vt:lpstr>
      <vt:lpstr>Conclusion</vt:lpstr>
      <vt:lpstr>Future Improvements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Jairaj Choudhary</dc:creator>
  <cp:lastModifiedBy>Jairaj Choudhary</cp:lastModifiedBy>
  <cp:revision>7</cp:revision>
  <dcterms:created xsi:type="dcterms:W3CDTF">2026-09-03T08:30:02Z</dcterms:created>
  <dcterms:modified xsi:type="dcterms:W3CDTF">2026-09-04T13:42:24Z</dcterms:modified>
</cp:coreProperties>
</file>